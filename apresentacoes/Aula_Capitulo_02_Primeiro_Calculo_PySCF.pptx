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pt-B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544418D-D204-40F2-93FC-225C824A64C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C9DC87-BA2B-4850-8D09-C8CAEE95907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D421D692-FAC9-4E32-8D47-FC215BC3B7D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488CACAC-37E4-4DFC-8CBA-652F07A3E59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E41FCA2B-BF95-4441-94E8-EC6044F3FC0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3D7DCE1A-D2E3-4058-BD7E-324E732D8A3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51F9CCF-B3FF-40A2-8F26-8FA2DF2E690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B1010F56-6111-453F-8A2B-BFD60A31E61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0FB74F1-506E-4A3F-AA32-39E6A022F1B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2791DE1-6BB8-4185-B6D4-868EF822DA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BAB73613-072B-4707-958F-805A4ABA2EE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377D578-F63C-4997-B050-E8D5678B29F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FE3D08B-6944-4CD5-B65D-C991127C42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1866EBF-27BA-4273-8284-4BA085138C4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Master 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7B11D7-B18E-4FC8-A0DB-410B3020A10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3EC415B-9D48-4864-BD7D-DE64696F5D06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629D286-E055-4C73-BDD6-828C4E83230E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384797E-74DE-4A44-9159-AD66ACF059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A82D40C-BA3B-4BFE-994B-5663B7B91A3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6C06299-F0E6-4BE5-9312-06CE0788BD0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 para editar o formato do texto do título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4A61E9A-B235-4AAC-A755-62E1953D09E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 para editar o formato de texto dos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2.º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3.º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4.º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5.º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6.º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7.º nível de tópicos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&lt;data/hora&gt;</a:t>
            </a:r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pt-B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pt-BR" sz="1400" spc="-1" strike="noStrike">
                <a:solidFill>
                  <a:srgbClr val="000000"/>
                </a:solidFill>
                <a:latin typeface="Times New Roman"/>
              </a:rPr>
              <a:t>&lt;rodapé&gt;</a:t>
            </a:r>
            <a:endParaRPr b="0" lang="pt-B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B3D7EE-12D0-4CF2-B900-19EC8BD1F87A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&lt;número&gt;</a:t>
            </a:fld>
            <a:endParaRPr b="0" lang="pt-B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Rectangle 2"/>
          <p:cNvSpPr/>
          <p:nvPr/>
        </p:nvSpPr>
        <p:spPr>
          <a:xfrm>
            <a:off x="822960" y="2103120"/>
            <a:ext cx="2011320" cy="54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822960" y="1234440"/>
            <a:ext cx="100580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bfd8ee"/>
                </a:solidFill>
                <a:latin typeface="Calibri"/>
              </a:rPr>
              <a:t>SIMULANDO QUBITS COM PySCF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822960" y="2331720"/>
            <a:ext cx="10515240" cy="82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4200" spc="-1" strike="noStrike">
                <a:solidFill>
                  <a:srgbClr val="ffffff"/>
                </a:solidFill>
                <a:latin typeface="Calibri"/>
              </a:rPr>
              <a:t>Capítulo 2 — O Primeiro Cálculo com PySCF</a:t>
            </a:r>
            <a:endParaRPr b="0" lang="pt-BR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822960" y="3794760"/>
            <a:ext cx="100580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d8e8f4"/>
                </a:solidFill>
                <a:latin typeface="Calibri"/>
              </a:rPr>
              <a:t>Do objeto Mole ao átomo de silício: o fluxo de trabalho completo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6"/>
          <p:cNvSpPr/>
          <p:nvPr/>
        </p:nvSpPr>
        <p:spPr>
          <a:xfrm>
            <a:off x="822960" y="5257800"/>
            <a:ext cx="1005804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Cristiano Alves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822960" y="5669280"/>
            <a:ext cx="1005804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300" spc="-1" strike="noStrike">
                <a:solidFill>
                  <a:srgbClr val="a8c8e4"/>
                </a:solidFill>
                <a:latin typeface="Calibri"/>
              </a:rPr>
              <a:t>Parte 0 — Preparando o Laboratório Computacional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5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Roteiro da aula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O que vamos construir hoje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1280160" y="1600200"/>
            <a:ext cx="9600840" cy="351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1.  A anatomia de um cálculo — três passos, cinco linhas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2.  O objeto Mole — definindo o sistema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3.  O que é uma base? — e por que ela decide tudo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4.  Executando Hartree-Fock — o objeto SCF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5.  Interpretando a saída — convergência, orbitais, gap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6.  Mãos à obra — do átomo de H à molécula H₂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599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alibri"/>
              </a:rPr>
              <a:t>7.  Projeto Âncora — o átomo de silício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Rectangle 8"/>
          <p:cNvSpPr/>
          <p:nvPr/>
        </p:nvSpPr>
        <p:spPr>
          <a:xfrm>
            <a:off x="1280160" y="5120640"/>
            <a:ext cx="9600840" cy="1051200"/>
          </a:xfrm>
          <a:prstGeom prst="rect">
            <a:avLst/>
          </a:prstGeom>
          <a:noFill/>
          <a:ln w="20320">
            <a:solidFill>
              <a:srgbClr val="146e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Rectangle 9"/>
          <p:cNvSpPr/>
          <p:nvPr/>
        </p:nvSpPr>
        <p:spPr>
          <a:xfrm>
            <a:off x="1280160" y="5120640"/>
            <a:ext cx="82080" cy="105120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3" name="TextBox 10"/>
          <p:cNvSpPr/>
          <p:nvPr/>
        </p:nvSpPr>
        <p:spPr>
          <a:xfrm>
            <a:off x="1536120" y="5230440"/>
            <a:ext cx="91436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✓ </a:t>
            </a: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Ao final da aula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TextBox 11"/>
          <p:cNvSpPr/>
          <p:nvPr/>
        </p:nvSpPr>
        <p:spPr>
          <a:xfrm>
            <a:off x="1536120" y="5596200"/>
            <a:ext cx="90979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Você terá executado um cálculo de estrutura eletrônica real e saberá ler criticamente o que o PySCF devolve.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A anatomia de um cálculo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Quase todo cálculo no PySCF segue o mesmo esqueleto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9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Rectangle 7"/>
          <p:cNvSpPr/>
          <p:nvPr/>
        </p:nvSpPr>
        <p:spPr>
          <a:xfrm>
            <a:off x="685800" y="1691640"/>
            <a:ext cx="3428640" cy="3200040"/>
          </a:xfrm>
          <a:prstGeom prst="rect">
            <a:avLst/>
          </a:prstGeom>
          <a:solidFill>
            <a:srgbClr val="e8f0f8"/>
          </a:solidFill>
          <a:ln w="1778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2" name="Rectangle 8"/>
          <p:cNvSpPr/>
          <p:nvPr/>
        </p:nvSpPr>
        <p:spPr>
          <a:xfrm>
            <a:off x="2011680" y="1417320"/>
            <a:ext cx="776880" cy="77688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3" name="TextBox 9"/>
          <p:cNvSpPr/>
          <p:nvPr/>
        </p:nvSpPr>
        <p:spPr>
          <a:xfrm>
            <a:off x="2011680" y="1517760"/>
            <a:ext cx="77688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1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10"/>
          <p:cNvSpPr/>
          <p:nvPr/>
        </p:nvSpPr>
        <p:spPr>
          <a:xfrm>
            <a:off x="868680" y="2395800"/>
            <a:ext cx="30628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24878"/>
                </a:solidFill>
                <a:latin typeface="Calibri"/>
              </a:rPr>
              <a:t>Definir o sistema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TextBox 11"/>
          <p:cNvSpPr/>
          <p:nvPr/>
        </p:nvSpPr>
        <p:spPr>
          <a:xfrm>
            <a:off x="914400" y="2926080"/>
            <a:ext cx="2971440" cy="92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Quais átomos, em que posições,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com que carga e spin,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em qual base.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TextBox 12"/>
          <p:cNvSpPr/>
          <p:nvPr/>
        </p:nvSpPr>
        <p:spPr>
          <a:xfrm>
            <a:off x="914400" y="4316040"/>
            <a:ext cx="29714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gto.M → Mole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Rectangle 13"/>
          <p:cNvSpPr/>
          <p:nvPr/>
        </p:nvSpPr>
        <p:spPr>
          <a:xfrm>
            <a:off x="4480560" y="1691640"/>
            <a:ext cx="3428640" cy="3200040"/>
          </a:xfrm>
          <a:prstGeom prst="rect">
            <a:avLst/>
          </a:prstGeom>
          <a:solidFill>
            <a:srgbClr val="e8f0f8"/>
          </a:solidFill>
          <a:ln w="1778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Rectangle 14"/>
          <p:cNvSpPr/>
          <p:nvPr/>
        </p:nvSpPr>
        <p:spPr>
          <a:xfrm>
            <a:off x="5806440" y="1417320"/>
            <a:ext cx="776880" cy="77688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9" name="TextBox 15"/>
          <p:cNvSpPr/>
          <p:nvPr/>
        </p:nvSpPr>
        <p:spPr>
          <a:xfrm>
            <a:off x="5806440" y="1517760"/>
            <a:ext cx="77688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2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TextBox 16"/>
          <p:cNvSpPr/>
          <p:nvPr/>
        </p:nvSpPr>
        <p:spPr>
          <a:xfrm>
            <a:off x="4663440" y="2395800"/>
            <a:ext cx="30628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24878"/>
                </a:solidFill>
                <a:latin typeface="Calibri"/>
              </a:rPr>
              <a:t>Escolher o método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17"/>
          <p:cNvSpPr/>
          <p:nvPr/>
        </p:nvSpPr>
        <p:spPr>
          <a:xfrm>
            <a:off x="4709160" y="2926080"/>
            <a:ext cx="297144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Hartree-Fock, DFT,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pós-Hartree-Fock.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18"/>
          <p:cNvSpPr/>
          <p:nvPr/>
        </p:nvSpPr>
        <p:spPr>
          <a:xfrm>
            <a:off x="4709160" y="4316040"/>
            <a:ext cx="29714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scf.RHF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Rectangle 19"/>
          <p:cNvSpPr/>
          <p:nvPr/>
        </p:nvSpPr>
        <p:spPr>
          <a:xfrm>
            <a:off x="8275320" y="1691640"/>
            <a:ext cx="3428640" cy="3200040"/>
          </a:xfrm>
          <a:prstGeom prst="rect">
            <a:avLst/>
          </a:prstGeom>
          <a:solidFill>
            <a:srgbClr val="e8f0f8"/>
          </a:solidFill>
          <a:ln w="1778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4" name="Rectangle 20"/>
          <p:cNvSpPr/>
          <p:nvPr/>
        </p:nvSpPr>
        <p:spPr>
          <a:xfrm>
            <a:off x="9601200" y="1417320"/>
            <a:ext cx="776880" cy="77688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1"/>
          <p:cNvSpPr/>
          <p:nvPr/>
        </p:nvSpPr>
        <p:spPr>
          <a:xfrm>
            <a:off x="9601200" y="1517760"/>
            <a:ext cx="776880" cy="54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6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pt-B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22"/>
          <p:cNvSpPr/>
          <p:nvPr/>
        </p:nvSpPr>
        <p:spPr>
          <a:xfrm>
            <a:off x="8458200" y="2395800"/>
            <a:ext cx="306288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124878"/>
                </a:solidFill>
                <a:latin typeface="Calibri"/>
              </a:rPr>
              <a:t>Executar e analisar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23"/>
          <p:cNvSpPr/>
          <p:nvPr/>
        </p:nvSpPr>
        <p:spPr>
          <a:xfrm>
            <a:off x="8503920" y="2926080"/>
            <a:ext cx="2971440" cy="64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Disparar o cálculo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e ler os resultados.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TextBox 24"/>
          <p:cNvSpPr/>
          <p:nvPr/>
        </p:nvSpPr>
        <p:spPr>
          <a:xfrm>
            <a:off x="8503920" y="4316040"/>
            <a:ext cx="29714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kernel()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TextBox 25"/>
          <p:cNvSpPr/>
          <p:nvPr/>
        </p:nvSpPr>
        <p:spPr>
          <a:xfrm>
            <a:off x="685800" y="5166360"/>
            <a:ext cx="1078956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777777"/>
                </a:solidFill>
                <a:latin typeface="Calibri"/>
              </a:rPr>
              <a:t>gto = Gaussian-Type Orbitals (o sistema)   ·   scf = Self-Consistent Field (o método)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1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O esqueleto, em cinco linhas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Todo o resto do livro é uma variação disto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Rectangle 7"/>
          <p:cNvSpPr/>
          <p:nvPr/>
        </p:nvSpPr>
        <p:spPr>
          <a:xfrm>
            <a:off x="1005840" y="1691640"/>
            <a:ext cx="10149480" cy="25783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7" name="TextBox 8"/>
          <p:cNvSpPr/>
          <p:nvPr/>
        </p:nvSpPr>
        <p:spPr>
          <a:xfrm>
            <a:off x="1234440" y="1712160"/>
            <a:ext cx="9692280" cy="252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onsolas"/>
              </a:rPr>
              <a:t>from pyscf import gto, scf          # 1. importa os modulos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onsolas"/>
              </a:rPr>
              <a:t>mol = gto.M(atom='H 0 0 0; H 0 0 0.74',   # 2. define o sistema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onsolas"/>
              </a:rPr>
              <a:t>            </a:t>
            </a:r>
            <a:r>
              <a:rPr b="0" lang="en-US" sz="1800" spc="-1" strike="noStrike">
                <a:solidFill>
                  <a:srgbClr val="333333"/>
                </a:solidFill>
                <a:latin typeface="Consolas"/>
              </a:rPr>
              <a:t>basis='sto-3g')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onsolas"/>
              </a:rPr>
              <a:t>mf = scf.RHF(mol)                   # 3. escolhe o metodo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800" spc="-1" strike="noStrike">
                <a:solidFill>
                  <a:srgbClr val="333333"/>
                </a:solidFill>
                <a:latin typeface="Consolas"/>
              </a:rPr>
              <a:t>energia = mf.kernel()               # 4. executa e obtem a energia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Rectangle 9"/>
          <p:cNvSpPr/>
          <p:nvPr/>
        </p:nvSpPr>
        <p:spPr>
          <a:xfrm>
            <a:off x="1005840" y="4892040"/>
            <a:ext cx="10149480" cy="1142640"/>
          </a:xfrm>
          <a:prstGeom prst="rect">
            <a:avLst/>
          </a:prstGeom>
          <a:noFill/>
          <a:ln w="2032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Rectangle 10"/>
          <p:cNvSpPr/>
          <p:nvPr/>
        </p:nvSpPr>
        <p:spPr>
          <a:xfrm>
            <a:off x="1005840" y="4892040"/>
            <a:ext cx="82080" cy="11426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11"/>
          <p:cNvSpPr/>
          <p:nvPr/>
        </p:nvSpPr>
        <p:spPr>
          <a:xfrm>
            <a:off x="1261800" y="5001840"/>
            <a:ext cx="96922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🔑 </a:t>
            </a: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Guarde este padrão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12"/>
          <p:cNvSpPr/>
          <p:nvPr/>
        </p:nvSpPr>
        <p:spPr>
          <a:xfrm>
            <a:off x="1261800" y="5367600"/>
            <a:ext cx="96465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Mole → método → kernel(). Nos capítulos seguintes trocaremos o sistema (nanocristal de 136 átomos) e o método (DFT), mas o esqueleto continuará o mesmo.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3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O objeto Mole — definindo o sistema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gto.M() aceita os argumentos essenciais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Rectangle 7"/>
          <p:cNvSpPr/>
          <p:nvPr/>
        </p:nvSpPr>
        <p:spPr>
          <a:xfrm>
            <a:off x="685800" y="1600200"/>
            <a:ext cx="6674760" cy="25783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9" name="TextBox 8"/>
          <p:cNvSpPr/>
          <p:nvPr/>
        </p:nvSpPr>
        <p:spPr>
          <a:xfrm>
            <a:off x="914400" y="1764720"/>
            <a:ext cx="6217560" cy="22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mol = gto.M(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atom  = 'H 0 0 0; H 0 0 0.74',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basis = 'sto-3g',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charge = 0,       # carga total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spin   = 0,       # eletrons DESEMPARELHADOS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unit   = 'Angstrom',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verbose = 4)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TextBox 9"/>
          <p:cNvSpPr/>
          <p:nvPr/>
        </p:nvSpPr>
        <p:spPr>
          <a:xfrm>
            <a:off x="7726680" y="1600200"/>
            <a:ext cx="11883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atom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TextBox 10"/>
          <p:cNvSpPr/>
          <p:nvPr/>
        </p:nvSpPr>
        <p:spPr>
          <a:xfrm>
            <a:off x="8915400" y="1600200"/>
            <a:ext cx="283428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símbolo + x y z (Å por padrão);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separar átomos por ';' ou nova linha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TextBox 11"/>
          <p:cNvSpPr/>
          <p:nvPr/>
        </p:nvSpPr>
        <p:spPr>
          <a:xfrm>
            <a:off x="7726680" y="2350080"/>
            <a:ext cx="11883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basis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TextBox 12"/>
          <p:cNvSpPr/>
          <p:nvPr/>
        </p:nvSpPr>
        <p:spPr>
          <a:xfrm>
            <a:off x="8915400" y="2350080"/>
            <a:ext cx="2834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o conjunto de funções de base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TextBox 13"/>
          <p:cNvSpPr/>
          <p:nvPr/>
        </p:nvSpPr>
        <p:spPr>
          <a:xfrm>
            <a:off x="7726680" y="3099960"/>
            <a:ext cx="11883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charge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TextBox 14"/>
          <p:cNvSpPr/>
          <p:nvPr/>
        </p:nvSpPr>
        <p:spPr>
          <a:xfrm>
            <a:off x="8915400" y="3099960"/>
            <a:ext cx="2834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carga total do sistema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TextBox 15"/>
          <p:cNvSpPr/>
          <p:nvPr/>
        </p:nvSpPr>
        <p:spPr>
          <a:xfrm>
            <a:off x="7726680" y="3849480"/>
            <a:ext cx="11883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spin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TextBox 16"/>
          <p:cNvSpPr/>
          <p:nvPr/>
        </p:nvSpPr>
        <p:spPr>
          <a:xfrm>
            <a:off x="8915400" y="3849480"/>
            <a:ext cx="283428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número de elétrons desemparelhados (2S)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TextBox 17"/>
          <p:cNvSpPr/>
          <p:nvPr/>
        </p:nvSpPr>
        <p:spPr>
          <a:xfrm>
            <a:off x="7726680" y="4527360"/>
            <a:ext cx="118836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verbose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TextBox 18"/>
          <p:cNvSpPr/>
          <p:nvPr/>
        </p:nvSpPr>
        <p:spPr>
          <a:xfrm>
            <a:off x="8915400" y="4527360"/>
            <a:ext cx="283428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0 = silencioso … 9 = tudo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Rectangle 19"/>
          <p:cNvSpPr/>
          <p:nvPr/>
        </p:nvSpPr>
        <p:spPr>
          <a:xfrm>
            <a:off x="685800" y="4892040"/>
            <a:ext cx="10789560" cy="1142640"/>
          </a:xfrm>
          <a:prstGeom prst="rect">
            <a:avLst/>
          </a:prstGeom>
          <a:noFill/>
          <a:ln w="20320">
            <a:solidFill>
              <a:srgbClr val="961e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Rectangle 20"/>
          <p:cNvSpPr/>
          <p:nvPr/>
        </p:nvSpPr>
        <p:spPr>
          <a:xfrm>
            <a:off x="685800" y="4892040"/>
            <a:ext cx="82080" cy="1142640"/>
          </a:xfrm>
          <a:prstGeom prst="rect">
            <a:avLst/>
          </a:prstGeom>
          <a:solidFill>
            <a:srgbClr val="96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2" name="TextBox 21"/>
          <p:cNvSpPr/>
          <p:nvPr/>
        </p:nvSpPr>
        <p:spPr>
          <a:xfrm>
            <a:off x="941760" y="5001840"/>
            <a:ext cx="103323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961e1e"/>
                </a:solidFill>
                <a:latin typeface="Calibri"/>
              </a:rPr>
              <a:t>⚠ </a:t>
            </a:r>
            <a:r>
              <a:rPr b="1" lang="en-US" sz="1400" spc="-1" strike="noStrike">
                <a:solidFill>
                  <a:srgbClr val="961e1e"/>
                </a:solidFill>
                <a:latin typeface="Calibri"/>
              </a:rPr>
              <a:t>Atenção — o erro mais comum do capítulo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TextBox 22"/>
          <p:cNvSpPr/>
          <p:nvPr/>
        </p:nvSpPr>
        <p:spPr>
          <a:xfrm>
            <a:off x="941760" y="5367600"/>
            <a:ext cx="102866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spin é o número de elétrons DESEMPARELHADOS (2S), não a multiplicidade (2S+1). Para o átomo de H: spin=1, não spin=2.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5" name="TextBox 2"/>
          <p:cNvSpPr/>
          <p:nvPr/>
        </p:nvSpPr>
        <p:spPr>
          <a:xfrm>
            <a:off x="914400" y="2468880"/>
            <a:ext cx="10058040" cy="86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O que é uma base?</a:t>
            </a:r>
            <a:endParaRPr b="0" lang="pt-B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TextBox 3"/>
          <p:cNvSpPr/>
          <p:nvPr/>
        </p:nvSpPr>
        <p:spPr>
          <a:xfrm>
            <a:off x="914400" y="3566160"/>
            <a:ext cx="1005804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2000" spc="-1" strike="noStrike">
                <a:solidFill>
                  <a:srgbClr val="bfd8ee"/>
                </a:solidFill>
                <a:latin typeface="Calibri"/>
              </a:rPr>
              <a:t>A escolha que decide precisão e custo de todo cálculo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Rectangle 4"/>
          <p:cNvSpPr/>
          <p:nvPr/>
        </p:nvSpPr>
        <p:spPr>
          <a:xfrm>
            <a:off x="914400" y="3310200"/>
            <a:ext cx="2011320" cy="45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2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Expansão em base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Um computador não representa funções contínuas arbitrárias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6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TextBox 7"/>
          <p:cNvSpPr/>
          <p:nvPr/>
        </p:nvSpPr>
        <p:spPr>
          <a:xfrm>
            <a:off x="914400" y="1600200"/>
            <a:ext cx="1033236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900" spc="-1" strike="noStrike">
                <a:solidFill>
                  <a:srgbClr val="333333"/>
                </a:solidFill>
                <a:latin typeface="Calibri"/>
              </a:rPr>
              <a:t>Cada orbital molecular é escrito como combinação linear de funções conhecidas e fixas: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Rectangle 8"/>
          <p:cNvSpPr/>
          <p:nvPr/>
        </p:nvSpPr>
        <p:spPr>
          <a:xfrm>
            <a:off x="3108960" y="2423160"/>
            <a:ext cx="5943240" cy="1051200"/>
          </a:xfrm>
          <a:prstGeom prst="rect">
            <a:avLst/>
          </a:prstGeom>
          <a:solidFill>
            <a:srgbClr val="e8f0f8"/>
          </a:solidFill>
          <a:ln w="1778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9"/>
          <p:cNvSpPr/>
          <p:nvPr/>
        </p:nvSpPr>
        <p:spPr>
          <a:xfrm>
            <a:off x="3108960" y="2651760"/>
            <a:ext cx="5943240" cy="58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800" spc="-1" strike="noStrike">
                <a:solidFill>
                  <a:srgbClr val="124878"/>
                </a:solidFill>
                <a:latin typeface="Cambria"/>
              </a:rPr>
              <a:t>ψi(r)  =  Σμ  Cμi · φμ(r)</a:t>
            </a:r>
            <a:endParaRPr b="0" lang="pt-BR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0" name="TextBox 10"/>
          <p:cNvSpPr/>
          <p:nvPr/>
        </p:nvSpPr>
        <p:spPr>
          <a:xfrm>
            <a:off x="2011680" y="3794760"/>
            <a:ext cx="8686440" cy="139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146e3c"/>
                </a:solidFill>
                <a:latin typeface="Calibri"/>
              </a:rPr>
              <a:t>φμ  —  as funções de base:  fixas, escolhidas por você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99"/>
              </a:spcAft>
            </a:pPr>
            <a:r>
              <a:rPr b="0" lang="en-US" sz="1900" spc="-1" strike="noStrike">
                <a:solidFill>
                  <a:srgbClr val="124878"/>
                </a:solidFill>
                <a:latin typeface="Calibri"/>
              </a:rPr>
              <a:t>Cμi —  os coeficientes:  é isto que o cálculo determina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1199"/>
              </a:spcAft>
            </a:pPr>
            <a:r>
              <a:rPr b="1" lang="en-US" sz="1900" spc="-1" strike="noStrike">
                <a:solidFill>
                  <a:srgbClr val="333333"/>
                </a:solidFill>
                <a:latin typeface="Calibri"/>
              </a:rPr>
              <a:t>N maior  →  descrição melhor  →  custo maior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Rectangle 11"/>
          <p:cNvSpPr/>
          <p:nvPr/>
        </p:nvSpPr>
        <p:spPr>
          <a:xfrm>
            <a:off x="914400" y="5120640"/>
            <a:ext cx="10332360" cy="1051200"/>
          </a:xfrm>
          <a:prstGeom prst="rect">
            <a:avLst/>
          </a:prstGeom>
          <a:noFill/>
          <a:ln w="2032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2" name="Rectangle 12"/>
          <p:cNvSpPr/>
          <p:nvPr/>
        </p:nvSpPr>
        <p:spPr>
          <a:xfrm>
            <a:off x="914400" y="5120640"/>
            <a:ext cx="8208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3" name="TextBox 13"/>
          <p:cNvSpPr/>
          <p:nvPr/>
        </p:nvSpPr>
        <p:spPr>
          <a:xfrm>
            <a:off x="1170360" y="5230440"/>
            <a:ext cx="98751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💡 </a:t>
            </a: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Por que gaussianas?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TextBox 14"/>
          <p:cNvSpPr/>
          <p:nvPr/>
        </p:nvSpPr>
        <p:spPr>
          <a:xfrm>
            <a:off x="1170360" y="5596200"/>
            <a:ext cx="982944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O produto de duas gaussianas centradas em pontos diferentes é outra gaussiana — isso torna as integrais de dois elétrons tratáveis analiticamente.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Famílias de bases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7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Os nomes que você encontrará na literatura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9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7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822960" y="1554480"/>
            <a:ext cx="10515240" cy="1005480"/>
          </a:xfrm>
          <a:prstGeom prst="rect">
            <a:avLst/>
          </a:prstGeom>
          <a:noFill/>
          <a:ln w="16510">
            <a:solidFill>
              <a:srgbClr val="146e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Rectangle 8"/>
          <p:cNvSpPr/>
          <p:nvPr/>
        </p:nvSpPr>
        <p:spPr>
          <a:xfrm>
            <a:off x="822960" y="1554480"/>
            <a:ext cx="72720" cy="100548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3" name="TextBox 9"/>
          <p:cNvSpPr/>
          <p:nvPr/>
        </p:nvSpPr>
        <p:spPr>
          <a:xfrm>
            <a:off x="1051560" y="1682640"/>
            <a:ext cx="28342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146e3c"/>
                </a:solidFill>
                <a:latin typeface="Consolas"/>
              </a:rPr>
              <a:t>STO-3G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TextBox 10"/>
          <p:cNvSpPr/>
          <p:nvPr/>
        </p:nvSpPr>
        <p:spPr>
          <a:xfrm>
            <a:off x="3977640" y="1673280"/>
            <a:ext cx="71319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Mínima. Cada orbital atômico = 3 gaussianas contraídas.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Rápida e imprecisa — nossa “base de rascunho”.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Rectangle 11"/>
          <p:cNvSpPr/>
          <p:nvPr/>
        </p:nvSpPr>
        <p:spPr>
          <a:xfrm>
            <a:off x="822960" y="2670120"/>
            <a:ext cx="10515240" cy="1005480"/>
          </a:xfrm>
          <a:prstGeom prst="rect">
            <a:avLst/>
          </a:prstGeom>
          <a:noFill/>
          <a:ln w="1651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Rectangle 12"/>
          <p:cNvSpPr/>
          <p:nvPr/>
        </p:nvSpPr>
        <p:spPr>
          <a:xfrm>
            <a:off x="822960" y="2670120"/>
            <a:ext cx="72720" cy="100548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7" name="TextBox 13"/>
          <p:cNvSpPr/>
          <p:nvPr/>
        </p:nvSpPr>
        <p:spPr>
          <a:xfrm>
            <a:off x="1051560" y="2797920"/>
            <a:ext cx="28342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124878"/>
                </a:solidFill>
                <a:latin typeface="Consolas"/>
              </a:rPr>
              <a:t>Pople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TextBox 14"/>
          <p:cNvSpPr/>
          <p:nvPr/>
        </p:nvSpPr>
        <p:spPr>
          <a:xfrm>
            <a:off x="3977640" y="2788920"/>
            <a:ext cx="71319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6-31G, 6-311G**. Porte médio, clássicas na literatura.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Rectangle 15"/>
          <p:cNvSpPr/>
          <p:nvPr/>
        </p:nvSpPr>
        <p:spPr>
          <a:xfrm>
            <a:off x="822960" y="3785760"/>
            <a:ext cx="10515240" cy="1005480"/>
          </a:xfrm>
          <a:prstGeom prst="rect">
            <a:avLst/>
          </a:prstGeom>
          <a:noFill/>
          <a:ln w="1651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0" name="Rectangle 16"/>
          <p:cNvSpPr/>
          <p:nvPr/>
        </p:nvSpPr>
        <p:spPr>
          <a:xfrm>
            <a:off x="822960" y="3785760"/>
            <a:ext cx="72720" cy="100548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1" name="TextBox 17"/>
          <p:cNvSpPr/>
          <p:nvPr/>
        </p:nvSpPr>
        <p:spPr>
          <a:xfrm>
            <a:off x="1051560" y="3913560"/>
            <a:ext cx="283428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124878"/>
                </a:solidFill>
                <a:latin typeface="Consolas"/>
              </a:rPr>
              <a:t>Correlação consistente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2" name="TextBox 18"/>
          <p:cNvSpPr/>
          <p:nvPr/>
        </p:nvSpPr>
        <p:spPr>
          <a:xfrm>
            <a:off x="3977640" y="3904560"/>
            <a:ext cx="71319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cc-pVDZ, cc-pVTZ, cc-pVQZ. Convergem de forma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sistemática e previsível rumo ao limite.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Rectangle 19"/>
          <p:cNvSpPr/>
          <p:nvPr/>
        </p:nvSpPr>
        <p:spPr>
          <a:xfrm>
            <a:off x="822960" y="4901040"/>
            <a:ext cx="10515240" cy="1005480"/>
          </a:xfrm>
          <a:prstGeom prst="rect">
            <a:avLst/>
          </a:prstGeom>
          <a:noFill/>
          <a:ln w="16510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4" name="Rectangle 20"/>
          <p:cNvSpPr/>
          <p:nvPr/>
        </p:nvSpPr>
        <p:spPr>
          <a:xfrm>
            <a:off x="822960" y="4901040"/>
            <a:ext cx="72720" cy="1005480"/>
          </a:xfrm>
          <a:prstGeom prst="rect">
            <a:avLst/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5" name="TextBox 21"/>
          <p:cNvSpPr/>
          <p:nvPr/>
        </p:nvSpPr>
        <p:spPr>
          <a:xfrm>
            <a:off x="1051560" y="5029200"/>
            <a:ext cx="283428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e8710a"/>
                </a:solidFill>
                <a:latin typeface="Consolas"/>
              </a:rPr>
              <a:t>def2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TextBox 22"/>
          <p:cNvSpPr/>
          <p:nvPr/>
        </p:nvSpPr>
        <p:spPr>
          <a:xfrm>
            <a:off x="3977640" y="5020200"/>
            <a:ext cx="7131960" cy="59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def2-SVP, def2-TZVP. Família moderna de Karlsruhe,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boa para toda a tabela periódica.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8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O efeito da base, na prática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Energia HF da molécula H₂ a R = 0,74 Å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0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1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8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Rectangle 7"/>
          <p:cNvSpPr/>
          <p:nvPr/>
        </p:nvSpPr>
        <p:spPr>
          <a:xfrm>
            <a:off x="2103120" y="1737360"/>
            <a:ext cx="7954920" cy="5666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TextBox 8"/>
          <p:cNvSpPr/>
          <p:nvPr/>
        </p:nvSpPr>
        <p:spPr>
          <a:xfrm>
            <a:off x="2331720" y="1865520"/>
            <a:ext cx="35658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Base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TextBox 9"/>
          <p:cNvSpPr/>
          <p:nvPr/>
        </p:nvSpPr>
        <p:spPr>
          <a:xfrm>
            <a:off x="5897880" y="186552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Funções (nao)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TextBox 10"/>
          <p:cNvSpPr/>
          <p:nvPr/>
        </p:nvSpPr>
        <p:spPr>
          <a:xfrm>
            <a:off x="8092440" y="186552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Energia (Ha)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TextBox 11"/>
          <p:cNvSpPr/>
          <p:nvPr/>
        </p:nvSpPr>
        <p:spPr>
          <a:xfrm>
            <a:off x="2331720" y="2468880"/>
            <a:ext cx="35658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STO-3G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TextBox 12"/>
          <p:cNvSpPr/>
          <p:nvPr/>
        </p:nvSpPr>
        <p:spPr>
          <a:xfrm>
            <a:off x="5897880" y="246888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2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TextBox 13"/>
          <p:cNvSpPr/>
          <p:nvPr/>
        </p:nvSpPr>
        <p:spPr>
          <a:xfrm>
            <a:off x="8092440" y="246888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−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1,116759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TextBox 14"/>
          <p:cNvSpPr/>
          <p:nvPr/>
        </p:nvSpPr>
        <p:spPr>
          <a:xfrm>
            <a:off x="2331720" y="3072240"/>
            <a:ext cx="35658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cc-pVDZ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TextBox 15"/>
          <p:cNvSpPr/>
          <p:nvPr/>
        </p:nvSpPr>
        <p:spPr>
          <a:xfrm>
            <a:off x="5897880" y="307224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10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2" name="TextBox 16"/>
          <p:cNvSpPr/>
          <p:nvPr/>
        </p:nvSpPr>
        <p:spPr>
          <a:xfrm>
            <a:off x="8092440" y="307224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−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1,128700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TextBox 17"/>
          <p:cNvSpPr/>
          <p:nvPr/>
        </p:nvSpPr>
        <p:spPr>
          <a:xfrm>
            <a:off x="2331720" y="3675960"/>
            <a:ext cx="35658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cc-pVTZ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TextBox 18"/>
          <p:cNvSpPr/>
          <p:nvPr/>
        </p:nvSpPr>
        <p:spPr>
          <a:xfrm>
            <a:off x="5897880" y="367596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28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TextBox 19"/>
          <p:cNvSpPr/>
          <p:nvPr/>
        </p:nvSpPr>
        <p:spPr>
          <a:xfrm>
            <a:off x="8092440" y="3675960"/>
            <a:ext cx="21942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−</a:t>
            </a: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1,132968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Rectangle 20"/>
          <p:cNvSpPr/>
          <p:nvPr/>
        </p:nvSpPr>
        <p:spPr>
          <a:xfrm>
            <a:off x="2103120" y="4151520"/>
            <a:ext cx="7954920" cy="566640"/>
          </a:xfrm>
          <a:prstGeom prst="rect">
            <a:avLst/>
          </a:prstGeom>
          <a:solidFill>
            <a:srgbClr val="e8f0f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7" name="TextBox 21"/>
          <p:cNvSpPr/>
          <p:nvPr/>
        </p:nvSpPr>
        <p:spPr>
          <a:xfrm>
            <a:off x="2331720" y="4279320"/>
            <a:ext cx="35658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24878"/>
                </a:solidFill>
                <a:latin typeface="Calibri"/>
              </a:rPr>
              <a:t>limite Hartree-Fock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TextBox 22"/>
          <p:cNvSpPr/>
          <p:nvPr/>
        </p:nvSpPr>
        <p:spPr>
          <a:xfrm>
            <a:off x="5897880" y="4279320"/>
            <a:ext cx="21942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24878"/>
                </a:solidFill>
                <a:latin typeface="Calibri"/>
              </a:rPr>
              <a:t>—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9" name="TextBox 23"/>
          <p:cNvSpPr/>
          <p:nvPr/>
        </p:nvSpPr>
        <p:spPr>
          <a:xfrm>
            <a:off x="8092440" y="4279320"/>
            <a:ext cx="219420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24878"/>
                </a:solidFill>
                <a:latin typeface="Calibri"/>
              </a:rPr>
              <a:t>≈ −</a:t>
            </a:r>
            <a:r>
              <a:rPr b="1" lang="en-US" sz="1600" spc="-1" strike="noStrike">
                <a:solidFill>
                  <a:srgbClr val="124878"/>
                </a:solidFill>
                <a:latin typeface="Calibri"/>
              </a:rPr>
              <a:t>1,1336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Rectangle 24"/>
          <p:cNvSpPr/>
          <p:nvPr/>
        </p:nvSpPr>
        <p:spPr>
          <a:xfrm>
            <a:off x="2103120" y="4892040"/>
            <a:ext cx="7954920" cy="1188360"/>
          </a:xfrm>
          <a:prstGeom prst="rect">
            <a:avLst/>
          </a:prstGeom>
          <a:noFill/>
          <a:ln w="20320">
            <a:solidFill>
              <a:srgbClr val="146e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1" name="Rectangle 25"/>
          <p:cNvSpPr/>
          <p:nvPr/>
        </p:nvSpPr>
        <p:spPr>
          <a:xfrm>
            <a:off x="2103120" y="4892040"/>
            <a:ext cx="82080" cy="118836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26"/>
          <p:cNvSpPr/>
          <p:nvPr/>
        </p:nvSpPr>
        <p:spPr>
          <a:xfrm>
            <a:off x="2359080" y="5001840"/>
            <a:ext cx="74977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🧭 </a:t>
            </a: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Princípio variacional — a bússola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3" name="TextBox 27"/>
          <p:cNvSpPr/>
          <p:nvPr/>
        </p:nvSpPr>
        <p:spPr>
          <a:xfrm>
            <a:off x="2359080" y="5367600"/>
            <a:ext cx="745200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A energia calculada é sempre um limite SUPERIOR à verdadeira. Logo, entre duas bases, a que dá a energia mais baixa é a melhor.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5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Executando Hartree-Fock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6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Escolher o método é escolher a classe certa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7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8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9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0" name="Rectangle 7"/>
          <p:cNvSpPr/>
          <p:nvPr/>
        </p:nvSpPr>
        <p:spPr>
          <a:xfrm>
            <a:off x="685800" y="1691640"/>
            <a:ext cx="3428640" cy="2514240"/>
          </a:xfrm>
          <a:prstGeom prst="rect">
            <a:avLst/>
          </a:prstGeom>
          <a:noFill/>
          <a:ln w="19050">
            <a:solidFill>
              <a:srgbClr val="146e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Rectangle 8"/>
          <p:cNvSpPr/>
          <p:nvPr/>
        </p:nvSpPr>
        <p:spPr>
          <a:xfrm>
            <a:off x="685800" y="1691640"/>
            <a:ext cx="3428640" cy="56664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2" name="TextBox 9"/>
          <p:cNvSpPr/>
          <p:nvPr/>
        </p:nvSpPr>
        <p:spPr>
          <a:xfrm>
            <a:off x="685800" y="1810440"/>
            <a:ext cx="342864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ffffff"/>
                </a:solidFill>
                <a:latin typeface="Consolas"/>
              </a:rPr>
              <a:t>scf.RHF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TextBox 10"/>
          <p:cNvSpPr/>
          <p:nvPr/>
        </p:nvSpPr>
        <p:spPr>
          <a:xfrm>
            <a:off x="868680" y="2450520"/>
            <a:ext cx="30628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Restricted HF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TextBox 11"/>
          <p:cNvSpPr/>
          <p:nvPr/>
        </p:nvSpPr>
        <p:spPr>
          <a:xfrm>
            <a:off x="914400" y="2926080"/>
            <a:ext cx="2971440" cy="6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Camada fechada — todos 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elétrons emparelhados (spin=0)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5" name="Rectangle 12"/>
          <p:cNvSpPr/>
          <p:nvPr/>
        </p:nvSpPr>
        <p:spPr>
          <a:xfrm>
            <a:off x="4480560" y="1691640"/>
            <a:ext cx="3428640" cy="2514240"/>
          </a:xfrm>
          <a:prstGeom prst="rect">
            <a:avLst/>
          </a:prstGeom>
          <a:noFill/>
          <a:ln w="1905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6" name="Rectangle 13"/>
          <p:cNvSpPr/>
          <p:nvPr/>
        </p:nvSpPr>
        <p:spPr>
          <a:xfrm>
            <a:off x="4480560" y="1691640"/>
            <a:ext cx="3428640" cy="5666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7" name="TextBox 14"/>
          <p:cNvSpPr/>
          <p:nvPr/>
        </p:nvSpPr>
        <p:spPr>
          <a:xfrm>
            <a:off x="4480560" y="1810440"/>
            <a:ext cx="342864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ffffff"/>
                </a:solidFill>
                <a:latin typeface="Consolas"/>
              </a:rPr>
              <a:t>scf.ROHF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8" name="TextBox 15"/>
          <p:cNvSpPr/>
          <p:nvPr/>
        </p:nvSpPr>
        <p:spPr>
          <a:xfrm>
            <a:off x="4663440" y="2450520"/>
            <a:ext cx="30628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Restricted Open-shell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9" name="TextBox 16"/>
          <p:cNvSpPr/>
          <p:nvPr/>
        </p:nvSpPr>
        <p:spPr>
          <a:xfrm>
            <a:off x="4709160" y="2926080"/>
            <a:ext cx="2971440" cy="6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Camada aberta, orbitais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espaciais comuns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Rectangle 17"/>
          <p:cNvSpPr/>
          <p:nvPr/>
        </p:nvSpPr>
        <p:spPr>
          <a:xfrm>
            <a:off x="8275320" y="1691640"/>
            <a:ext cx="3428640" cy="2514240"/>
          </a:xfrm>
          <a:prstGeom prst="rect">
            <a:avLst/>
          </a:prstGeom>
          <a:noFill/>
          <a:ln w="19050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1" name="Rectangle 18"/>
          <p:cNvSpPr/>
          <p:nvPr/>
        </p:nvSpPr>
        <p:spPr>
          <a:xfrm>
            <a:off x="8275320" y="1691640"/>
            <a:ext cx="3428640" cy="566640"/>
          </a:xfrm>
          <a:prstGeom prst="rect">
            <a:avLst/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2" name="TextBox 19"/>
          <p:cNvSpPr/>
          <p:nvPr/>
        </p:nvSpPr>
        <p:spPr>
          <a:xfrm>
            <a:off x="8275320" y="1810440"/>
            <a:ext cx="3428640" cy="4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900" spc="-1" strike="noStrike">
                <a:solidFill>
                  <a:srgbClr val="ffffff"/>
                </a:solidFill>
                <a:latin typeface="Consolas"/>
              </a:rPr>
              <a:t>scf.UHF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3" name="TextBox 20"/>
          <p:cNvSpPr/>
          <p:nvPr/>
        </p:nvSpPr>
        <p:spPr>
          <a:xfrm>
            <a:off x="8458200" y="2450520"/>
            <a:ext cx="30628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e8710a"/>
                </a:solidFill>
                <a:latin typeface="Calibri"/>
              </a:rPr>
              <a:t>Unrestricted HF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TextBox 21"/>
          <p:cNvSpPr/>
          <p:nvPr/>
        </p:nvSpPr>
        <p:spPr>
          <a:xfrm>
            <a:off x="8503920" y="2926080"/>
            <a:ext cx="2971440" cy="60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Camada aberta, α e β com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201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alibri"/>
              </a:rPr>
              <a:t>orbitais independentes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5" name="Rectangle 22"/>
          <p:cNvSpPr/>
          <p:nvPr/>
        </p:nvSpPr>
        <p:spPr>
          <a:xfrm>
            <a:off x="685800" y="4526280"/>
            <a:ext cx="10789560" cy="1023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23"/>
          <p:cNvSpPr/>
          <p:nvPr/>
        </p:nvSpPr>
        <p:spPr>
          <a:xfrm>
            <a:off x="914400" y="4690800"/>
            <a:ext cx="10332360" cy="72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onsolas"/>
              </a:rPr>
              <a:t>mf = scf.RHF(mol)        # o objeto de metodo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onsolas"/>
              </a:rPr>
              <a:t>energia = mf.kernel()    # dispara o ciclo autoconsistente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8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Interpretando a saída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9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Obter um número é fácil; confiar nele exige ler com olhos críticos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0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1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2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10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3" name="Rectangle 7"/>
          <p:cNvSpPr/>
          <p:nvPr/>
        </p:nvSpPr>
        <p:spPr>
          <a:xfrm>
            <a:off x="640080" y="1600200"/>
            <a:ext cx="10881000" cy="25783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4" name="TextBox 8"/>
          <p:cNvSpPr/>
          <p:nvPr/>
        </p:nvSpPr>
        <p:spPr>
          <a:xfrm>
            <a:off x="822960" y="1307520"/>
            <a:ext cx="10881000" cy="31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300" spc="-1" strike="noStrike">
                <a:solidFill>
                  <a:srgbClr val="777777"/>
                </a:solidFill>
                <a:latin typeface="Calibri"/>
              </a:rPr>
              <a:t>Molécula de água, STO-3G, verbose=4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5" name="TextBox 9"/>
          <p:cNvSpPr/>
          <p:nvPr/>
        </p:nvSpPr>
        <p:spPr>
          <a:xfrm>
            <a:off x="868680" y="1764720"/>
            <a:ext cx="10423800" cy="203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cycle= 1 E= -74.9128050859  delta_E= -0.0755   |g|= 0.37     |ddm|= 1.69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cycle= 2 E= -74.9624186902  delta_E= -0.0496   |g|= 0.0424   |ddm|= 0.56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cycle= 3 E= -74.9629204358  delta_E= -0.000502 |g|= 0.00832  |ddm|= 0.0432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cycle= 4 E= -74.9629466547  delta_E= -2.62e-05 |g|= 6.37e-05 |ddm|= 0.015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cycle= 5 E= -74.9629466564  delta_E= -1.67e-09 |g|= 1.46e-05 |ddm|= 0.0001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cycle= 6 E= -74.9629466565  delta_E= -1.58e-10 |g|= 3.45e-06 |ddm|= 4.2e-05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400" spc="-1" strike="noStrike">
                <a:solidFill>
                  <a:srgbClr val="333333"/>
                </a:solidFill>
                <a:latin typeface="Consolas"/>
              </a:rPr>
              <a:t>converged SCF energy = -74.9629466565387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TextBox 10"/>
          <p:cNvSpPr/>
          <p:nvPr/>
        </p:nvSpPr>
        <p:spPr>
          <a:xfrm>
            <a:off x="822960" y="4526280"/>
            <a:ext cx="13712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24878"/>
                </a:solidFill>
                <a:latin typeface="Consolas"/>
              </a:rPr>
              <a:t>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7" name="TextBox 11"/>
          <p:cNvSpPr/>
          <p:nvPr/>
        </p:nvSpPr>
        <p:spPr>
          <a:xfrm>
            <a:off x="2286000" y="4526280"/>
            <a:ext cx="896076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a energia total do ciclo — desce monotonamente e estabiliza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8" name="TextBox 12"/>
          <p:cNvSpPr/>
          <p:nvPr/>
        </p:nvSpPr>
        <p:spPr>
          <a:xfrm>
            <a:off x="822960" y="5001840"/>
            <a:ext cx="13712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146e3c"/>
                </a:solidFill>
                <a:latin typeface="Consolas"/>
              </a:rPr>
              <a:t>delta_E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9" name="TextBox 13"/>
          <p:cNvSpPr/>
          <p:nvPr/>
        </p:nvSpPr>
        <p:spPr>
          <a:xfrm>
            <a:off x="2286000" y="5001840"/>
            <a:ext cx="896076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variação em relação ao ciclo anterior — critério principal (&lt; 10⁻⁹ Ha)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TextBox 14"/>
          <p:cNvSpPr/>
          <p:nvPr/>
        </p:nvSpPr>
        <p:spPr>
          <a:xfrm>
            <a:off x="822960" y="5477400"/>
            <a:ext cx="137124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600" spc="-1" strike="noStrike">
                <a:solidFill>
                  <a:srgbClr val="e8710a"/>
                </a:solidFill>
                <a:latin typeface="Consolas"/>
              </a:rPr>
              <a:t>|g|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TextBox 15"/>
          <p:cNvSpPr/>
          <p:nvPr/>
        </p:nvSpPr>
        <p:spPr>
          <a:xfrm>
            <a:off x="2286000" y="5477400"/>
            <a:ext cx="896076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norma do gradiente — quanto os orbitais ainda “querem” mudar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3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Convergiu ≠ correto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A regra de ouro do capítulo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5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6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7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11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Rectangle 7"/>
          <p:cNvSpPr/>
          <p:nvPr/>
        </p:nvSpPr>
        <p:spPr>
          <a:xfrm>
            <a:off x="1005840" y="1691640"/>
            <a:ext cx="10149480" cy="1691280"/>
          </a:xfrm>
          <a:prstGeom prst="rect">
            <a:avLst/>
          </a:prstGeom>
          <a:noFill/>
          <a:ln w="20320">
            <a:solidFill>
              <a:srgbClr val="961e1e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9" name="Rectangle 8"/>
          <p:cNvSpPr/>
          <p:nvPr/>
        </p:nvSpPr>
        <p:spPr>
          <a:xfrm>
            <a:off x="1005840" y="1691640"/>
            <a:ext cx="82080" cy="1691280"/>
          </a:xfrm>
          <a:prstGeom prst="rect">
            <a:avLst/>
          </a:prstGeom>
          <a:solidFill>
            <a:srgbClr val="96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0" name="TextBox 9"/>
          <p:cNvSpPr/>
          <p:nvPr/>
        </p:nvSpPr>
        <p:spPr>
          <a:xfrm>
            <a:off x="1261800" y="1801440"/>
            <a:ext cx="96922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961e1e"/>
                </a:solidFill>
                <a:latin typeface="Calibri"/>
              </a:rPr>
              <a:t>⚠ </a:t>
            </a:r>
            <a:r>
              <a:rPr b="1" lang="en-US" sz="1400" spc="-1" strike="noStrike">
                <a:solidFill>
                  <a:srgbClr val="961e1e"/>
                </a:solidFill>
                <a:latin typeface="Calibri"/>
              </a:rPr>
              <a:t>SCF not converged  →  descarte o número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1" name="TextBox 10"/>
          <p:cNvSpPr/>
          <p:nvPr/>
        </p:nvSpPr>
        <p:spPr>
          <a:xfrm>
            <a:off x="1261800" y="2167200"/>
            <a:ext cx="96465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Se o SCF não convergiu, o valor reportado NÃO TEM VALOR. Sempre verifique mf.converged antes de usar qualquer resultado — energia, orbitais ou gap.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2" name="Rectangle 11"/>
          <p:cNvSpPr/>
          <p:nvPr/>
        </p:nvSpPr>
        <p:spPr>
          <a:xfrm>
            <a:off x="1005840" y="3657600"/>
            <a:ext cx="10149480" cy="1462680"/>
          </a:xfrm>
          <a:prstGeom prst="rect">
            <a:avLst/>
          </a:prstGeom>
          <a:noFill/>
          <a:ln w="20320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3" name="Rectangle 12"/>
          <p:cNvSpPr/>
          <p:nvPr/>
        </p:nvSpPr>
        <p:spPr>
          <a:xfrm>
            <a:off x="1005840" y="3657600"/>
            <a:ext cx="82080" cy="1462680"/>
          </a:xfrm>
          <a:prstGeom prst="rect">
            <a:avLst/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4" name="TextBox 13"/>
          <p:cNvSpPr/>
          <p:nvPr/>
        </p:nvSpPr>
        <p:spPr>
          <a:xfrm>
            <a:off x="1261800" y="3767400"/>
            <a:ext cx="969228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e8710a"/>
                </a:solidFill>
                <a:latin typeface="Calibri"/>
              </a:rPr>
              <a:t>🤔 </a:t>
            </a:r>
            <a:r>
              <a:rPr b="1" lang="en-US" sz="1400" spc="-1" strike="noStrike">
                <a:solidFill>
                  <a:srgbClr val="e8710a"/>
                </a:solidFill>
                <a:latin typeface="Calibri"/>
              </a:rPr>
              <a:t>E se convergiu?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5" name="TextBox 14"/>
          <p:cNvSpPr/>
          <p:nvPr/>
        </p:nvSpPr>
        <p:spPr>
          <a:xfrm>
            <a:off x="1261800" y="4133160"/>
            <a:ext cx="964656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A mensagem garante apenas que o algoritmo achou uma solução autoconsistente — não que ela seja a solução física desejada, nem que a base seja adequada.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6" name="Rectangle 15"/>
          <p:cNvSpPr/>
          <p:nvPr/>
        </p:nvSpPr>
        <p:spPr>
          <a:xfrm>
            <a:off x="1005840" y="5394960"/>
            <a:ext cx="10149480" cy="71280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7" name="TextBox 16"/>
          <p:cNvSpPr/>
          <p:nvPr/>
        </p:nvSpPr>
        <p:spPr>
          <a:xfrm>
            <a:off x="1234440" y="5559480"/>
            <a:ext cx="969228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assert mf.converged, 'SCF nao convergiu!'   # habito que salva resultados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Orbitais, ocupações e o gap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0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O cálculo devolve muito mais que a energia total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1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2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12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Rectangle 7"/>
          <p:cNvSpPr/>
          <p:nvPr/>
        </p:nvSpPr>
        <p:spPr>
          <a:xfrm>
            <a:off x="685800" y="1600200"/>
            <a:ext cx="10789560" cy="25783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5" name="TextBox 8"/>
          <p:cNvSpPr/>
          <p:nvPr/>
        </p:nvSpPr>
        <p:spPr>
          <a:xfrm>
            <a:off x="914400" y="1764720"/>
            <a:ext cx="10332360" cy="227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print(mf.mo_energy)   # energias dos orbitais, em ordem crescente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print(mf.mo_occ)      # ocupacoes: 2 (cheio), 1 (semipreenchido) ou 0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n_ocupados = int(mf.mo_occ.sum() // 2)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homo = mf.mo_energy[n_ocupados - 1]     # ultimo ocupado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lumo = mf.mo_energy[n_ocupados]         # primeiro vazio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gap  = (lumo - homo) * 27.2114          # em eV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6" name="Rectangle 9"/>
          <p:cNvSpPr/>
          <p:nvPr/>
        </p:nvSpPr>
        <p:spPr>
          <a:xfrm>
            <a:off x="1417320" y="4526280"/>
            <a:ext cx="2834280" cy="1416960"/>
          </a:xfrm>
          <a:prstGeom prst="rect">
            <a:avLst/>
          </a:prstGeom>
          <a:noFill/>
          <a:ln w="1905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0"/>
          <p:cNvSpPr/>
          <p:nvPr/>
        </p:nvSpPr>
        <p:spPr>
          <a:xfrm>
            <a:off x="1417320" y="4663440"/>
            <a:ext cx="28342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24878"/>
                </a:solidFill>
                <a:latin typeface="Calibri"/>
              </a:rPr>
              <a:t>HOMO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8" name="TextBox 11"/>
          <p:cNvSpPr/>
          <p:nvPr/>
        </p:nvSpPr>
        <p:spPr>
          <a:xfrm>
            <a:off x="1554480" y="5139000"/>
            <a:ext cx="255996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Highest Occupied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Molecular Orbital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Rectangle 12"/>
          <p:cNvSpPr/>
          <p:nvPr/>
        </p:nvSpPr>
        <p:spPr>
          <a:xfrm>
            <a:off x="4617720" y="4526280"/>
            <a:ext cx="2834280" cy="1416960"/>
          </a:xfrm>
          <a:prstGeom prst="rect">
            <a:avLst/>
          </a:prstGeom>
          <a:noFill/>
          <a:ln w="19050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0" name="TextBox 13"/>
          <p:cNvSpPr/>
          <p:nvPr/>
        </p:nvSpPr>
        <p:spPr>
          <a:xfrm>
            <a:off x="4617720" y="4663440"/>
            <a:ext cx="28342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e8710a"/>
                </a:solidFill>
                <a:latin typeface="Calibri"/>
              </a:rPr>
              <a:t>LUMO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1" name="TextBox 14"/>
          <p:cNvSpPr/>
          <p:nvPr/>
        </p:nvSpPr>
        <p:spPr>
          <a:xfrm>
            <a:off x="4754880" y="5139000"/>
            <a:ext cx="255996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Lowest Unoccupied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Molecular Orbital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2" name="Rectangle 15"/>
          <p:cNvSpPr/>
          <p:nvPr/>
        </p:nvSpPr>
        <p:spPr>
          <a:xfrm>
            <a:off x="7818120" y="4526280"/>
            <a:ext cx="2834280" cy="1416960"/>
          </a:xfrm>
          <a:prstGeom prst="rect">
            <a:avLst/>
          </a:prstGeom>
          <a:noFill/>
          <a:ln w="19050">
            <a:solidFill>
              <a:srgbClr val="146e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3" name="TextBox 16"/>
          <p:cNvSpPr/>
          <p:nvPr/>
        </p:nvSpPr>
        <p:spPr>
          <a:xfrm>
            <a:off x="7818120" y="4663440"/>
            <a:ext cx="2834280" cy="440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2000" spc="-1" strike="noStrike">
                <a:solidFill>
                  <a:srgbClr val="146e3c"/>
                </a:solidFill>
                <a:latin typeface="Calibri"/>
              </a:rPr>
              <a:t>gap</a:t>
            </a: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4" name="TextBox 17"/>
          <p:cNvSpPr/>
          <p:nvPr/>
        </p:nvSpPr>
        <p:spPr>
          <a:xfrm>
            <a:off x="7955280" y="5139000"/>
            <a:ext cx="2559960" cy="55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LUMO − HOMO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15000"/>
              </a:lnSpc>
              <a:spcAft>
                <a:spcPts val="99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alibri"/>
              </a:rPr>
              <a:t>a energia de excitação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5" name="TextBox 18"/>
          <p:cNvSpPr/>
          <p:nvPr/>
        </p:nvSpPr>
        <p:spPr>
          <a:xfrm>
            <a:off x="685800" y="6126480"/>
            <a:ext cx="107895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ct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777777"/>
                </a:solidFill>
                <a:latin typeface="Calibri"/>
              </a:rPr>
              <a:t>O gap será a grandeza central do Capítulo 4 — a energia de confinamento do ponto quântico.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7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Mãos à obra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8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Do átomo de hidrogênio à molécula H₂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9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0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1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13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2" name="Rectangle 7"/>
          <p:cNvSpPr/>
          <p:nvPr/>
        </p:nvSpPr>
        <p:spPr>
          <a:xfrm>
            <a:off x="640080" y="1572840"/>
            <a:ext cx="5394600" cy="2102760"/>
          </a:xfrm>
          <a:prstGeom prst="rect">
            <a:avLst/>
          </a:prstGeom>
          <a:noFill/>
          <a:ln w="19050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3" name="TextBox 8"/>
          <p:cNvSpPr/>
          <p:nvPr/>
        </p:nvSpPr>
        <p:spPr>
          <a:xfrm>
            <a:off x="868680" y="1719000"/>
            <a:ext cx="49374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e8710a"/>
                </a:solidFill>
                <a:latin typeface="Calibri"/>
              </a:rPr>
              <a:t>1 · Átomo de hidrogênio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4" name="Rectangle 9"/>
          <p:cNvSpPr/>
          <p:nvPr/>
        </p:nvSpPr>
        <p:spPr>
          <a:xfrm>
            <a:off x="868680" y="2148840"/>
            <a:ext cx="4589280" cy="13946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5" name="TextBox 10"/>
          <p:cNvSpPr/>
          <p:nvPr/>
        </p:nvSpPr>
        <p:spPr>
          <a:xfrm>
            <a:off x="1097280" y="2313360"/>
            <a:ext cx="448020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mol = gto.M(atom='H 0 0 0',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            </a:t>
            </a: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basis='sto-3g',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            </a:t>
            </a: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spin=1)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mf = scf.ROHF(mol); mf.kernel()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6" name="Rectangle 11"/>
          <p:cNvSpPr/>
          <p:nvPr/>
        </p:nvSpPr>
        <p:spPr>
          <a:xfrm>
            <a:off x="6355080" y="1572840"/>
            <a:ext cx="5394600" cy="2102760"/>
          </a:xfrm>
          <a:prstGeom prst="rect">
            <a:avLst/>
          </a:prstGeom>
          <a:noFill/>
          <a:ln w="19050">
            <a:solidFill>
              <a:srgbClr val="e8710a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7" name="TextBox 12"/>
          <p:cNvSpPr/>
          <p:nvPr/>
        </p:nvSpPr>
        <p:spPr>
          <a:xfrm>
            <a:off x="6583680" y="1719000"/>
            <a:ext cx="4937400" cy="387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700" spc="-1" strike="noStrike">
                <a:solidFill>
                  <a:srgbClr val="e8710a"/>
                </a:solidFill>
                <a:latin typeface="Calibri"/>
              </a:rPr>
              <a:t>2 · Molécula H₂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8" name="Rectangle 13"/>
          <p:cNvSpPr/>
          <p:nvPr/>
        </p:nvSpPr>
        <p:spPr>
          <a:xfrm>
            <a:off x="6583680" y="2148840"/>
            <a:ext cx="4665240" cy="13849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14"/>
          <p:cNvSpPr/>
          <p:nvPr/>
        </p:nvSpPr>
        <p:spPr>
          <a:xfrm>
            <a:off x="6812280" y="2313360"/>
            <a:ext cx="4480200" cy="111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mol = gto.M(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atom='H 0 0 0; H 0 0 0.74',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    </a:t>
            </a: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basis='sto-3g')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300" spc="-1" strike="noStrike">
                <a:solidFill>
                  <a:srgbClr val="333333"/>
                </a:solidFill>
                <a:latin typeface="Consolas"/>
              </a:rPr>
              <a:t>mf = scf.RHF(mol); mf.kernel()</a:t>
            </a:r>
            <a:endParaRPr b="0" lang="pt-BR" sz="13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0" name="Rectangle 15"/>
          <p:cNvSpPr/>
          <p:nvPr/>
        </p:nvSpPr>
        <p:spPr>
          <a:xfrm>
            <a:off x="640080" y="3886200"/>
            <a:ext cx="11109600" cy="1874160"/>
          </a:xfrm>
          <a:prstGeom prst="rect">
            <a:avLst/>
          </a:prstGeom>
          <a:noFill/>
          <a:ln w="20320">
            <a:solidFill>
              <a:srgbClr val="146e3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1" name="Rectangle 16"/>
          <p:cNvSpPr/>
          <p:nvPr/>
        </p:nvSpPr>
        <p:spPr>
          <a:xfrm>
            <a:off x="640080" y="3886200"/>
            <a:ext cx="82080" cy="187416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2" name="TextBox 17"/>
          <p:cNvSpPr/>
          <p:nvPr/>
        </p:nvSpPr>
        <p:spPr>
          <a:xfrm>
            <a:off x="896040" y="3996000"/>
            <a:ext cx="1065240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✓ </a:t>
            </a:r>
            <a:r>
              <a:rPr b="1" lang="en-US" sz="1400" spc="-1" strike="noStrike">
                <a:solidFill>
                  <a:srgbClr val="146e3c"/>
                </a:solidFill>
                <a:latin typeface="Calibri"/>
              </a:rPr>
              <a:t>A pergunta que fecha o exercício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3" name="TextBox 18"/>
          <p:cNvSpPr/>
          <p:nvPr/>
        </p:nvSpPr>
        <p:spPr>
          <a:xfrm>
            <a:off x="896040" y="4361760"/>
            <a:ext cx="10606680" cy="87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Energia da H₂ = −1,1168 Ha.  Dois átomos de H isolados = 2 × (−0,4666) = −0,9332 Ha.</a:t>
            </a:r>
            <a:br>
              <a:rPr sz="1500"/>
            </a:b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A molécula é MAIS ESTÁVEL que os átomos separados — a diferença é a energia de ligação. Você acabou de calcular, do zero, por que a ligação química existe.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🔷 </a:t>
            </a: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Projeto Âncora — Etapa 0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6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O primeiro cálculo do átomo de silício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7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14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685800" y="1572840"/>
            <a:ext cx="10789560" cy="685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alibri"/>
              </a:rPr>
              <a:t>O silício tem 14 elétrons, configuração [Ne] 3s² 3p². Os dois elétrons 3p ocupam orbitais distintos (estado fundamental ³P) — logo, dois elétrons desemparelhados: spin=2.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1" name="Rectangle 8"/>
          <p:cNvSpPr/>
          <p:nvPr/>
        </p:nvSpPr>
        <p:spPr>
          <a:xfrm>
            <a:off x="685800" y="2514600"/>
            <a:ext cx="10789560" cy="133452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2" name="TextBox 9"/>
          <p:cNvSpPr/>
          <p:nvPr/>
        </p:nvSpPr>
        <p:spPr>
          <a:xfrm>
            <a:off x="914400" y="2679120"/>
            <a:ext cx="10332360" cy="105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onsolas"/>
              </a:rPr>
              <a:t>mol_si = gto.M(atom='Si 0 0 0', basis='sto-3g', spin=2)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onsolas"/>
              </a:rPr>
              <a:t>mf_si  = scf.ROHF(mol_si)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700" spc="-1" strike="noStrike">
                <a:solidFill>
                  <a:srgbClr val="333333"/>
                </a:solidFill>
                <a:latin typeface="Consolas"/>
              </a:rPr>
              <a:t>e_si   = mf_si.kernel()</a:t>
            </a:r>
            <a:endParaRPr b="0" lang="pt-BR" sz="17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3" name="Rectangle 10"/>
          <p:cNvSpPr/>
          <p:nvPr/>
        </p:nvSpPr>
        <p:spPr>
          <a:xfrm>
            <a:off x="685800" y="3977640"/>
            <a:ext cx="10789560" cy="1023840"/>
          </a:xfrm>
          <a:prstGeom prst="rect">
            <a:avLst/>
          </a:prstGeom>
          <a:solidFill>
            <a:srgbClr val="f7f7f7"/>
          </a:solidFill>
          <a:ln w="12700">
            <a:solidFill>
              <a:srgbClr val="cccccc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4" name="TextBox 11"/>
          <p:cNvSpPr/>
          <p:nvPr/>
        </p:nvSpPr>
        <p:spPr>
          <a:xfrm>
            <a:off x="914400" y="4142160"/>
            <a:ext cx="10332360" cy="68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Eletrons: 14  AOs: 9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300"/>
              </a:spcAft>
            </a:pPr>
            <a:r>
              <a:rPr b="0" lang="en-US" sz="1600" spc="-1" strike="noStrike">
                <a:solidFill>
                  <a:srgbClr val="333333"/>
                </a:solidFill>
                <a:latin typeface="Consolas"/>
              </a:rPr>
              <a:t>converged SCF energy = -285.466211172452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5" name="Rectangle 12"/>
          <p:cNvSpPr/>
          <p:nvPr/>
        </p:nvSpPr>
        <p:spPr>
          <a:xfrm>
            <a:off x="685800" y="5074920"/>
            <a:ext cx="10789560" cy="1051200"/>
          </a:xfrm>
          <a:prstGeom prst="rect">
            <a:avLst/>
          </a:prstGeom>
          <a:noFill/>
          <a:ln w="20320">
            <a:solidFill>
              <a:srgbClr val="124878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6" name="Rectangle 13"/>
          <p:cNvSpPr/>
          <p:nvPr/>
        </p:nvSpPr>
        <p:spPr>
          <a:xfrm>
            <a:off x="685800" y="5074920"/>
            <a:ext cx="8208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17" name="TextBox 14"/>
          <p:cNvSpPr/>
          <p:nvPr/>
        </p:nvSpPr>
        <p:spPr>
          <a:xfrm>
            <a:off x="941760" y="5184720"/>
            <a:ext cx="1033236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🔷 </a:t>
            </a:r>
            <a:r>
              <a:rPr b="1" lang="en-US" sz="1400" spc="-1" strike="noStrike">
                <a:solidFill>
                  <a:srgbClr val="124878"/>
                </a:solidFill>
                <a:latin typeface="Calibri"/>
              </a:rPr>
              <a:t>Marco atingido — a Parte 0 está completa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8" name="TextBox 15"/>
          <p:cNvSpPr/>
          <p:nvPr/>
        </p:nvSpPr>
        <p:spPr>
          <a:xfrm>
            <a:off x="941760" y="5550480"/>
            <a:ext cx="1028664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500" spc="-1" strike="noStrike">
                <a:solidFill>
                  <a:srgbClr val="333333"/>
                </a:solidFill>
                <a:latin typeface="Calibri"/>
              </a:rPr>
              <a:t>Com def2-SVP (18 funções) a energia desce para −288,749819 Ha — o princípio variacional em ação. Na Parte I começaremos a construir o nanocristal.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Rectangle 1"/>
          <p:cNvSpPr/>
          <p:nvPr/>
        </p:nvSpPr>
        <p:spPr>
          <a:xfrm>
            <a:off x="0" y="0"/>
            <a:ext cx="12191400" cy="105120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0" name="TextBox 2"/>
          <p:cNvSpPr/>
          <p:nvPr/>
        </p:nvSpPr>
        <p:spPr>
          <a:xfrm>
            <a:off x="548640" y="182880"/>
            <a:ext cx="11094120" cy="615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000" spc="-1" strike="noStrike">
                <a:solidFill>
                  <a:srgbClr val="ffffff"/>
                </a:solidFill>
                <a:latin typeface="Calibri"/>
              </a:rPr>
              <a:t>Resumo da aula</a:t>
            </a:r>
            <a:endParaRPr b="0" lang="pt-BR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1" name="TextBox 3"/>
          <p:cNvSpPr/>
          <p:nvPr/>
        </p:nvSpPr>
        <p:spPr>
          <a:xfrm>
            <a:off x="567000" y="694800"/>
            <a:ext cx="1109412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bfd8ee"/>
                </a:solidFill>
                <a:latin typeface="Calibri"/>
              </a:rPr>
              <a:t>O que levar para o Capítulo 3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2" name="Rectangle 4"/>
          <p:cNvSpPr/>
          <p:nvPr/>
        </p:nvSpPr>
        <p:spPr>
          <a:xfrm>
            <a:off x="0" y="6473880"/>
            <a:ext cx="12191400" cy="38376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3" name="TextBox 5"/>
          <p:cNvSpPr/>
          <p:nvPr/>
        </p:nvSpPr>
        <p:spPr>
          <a:xfrm>
            <a:off x="457200" y="6510600"/>
            <a:ext cx="822924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Simulando Qubits com PySCF  ·  Cap. 2 — O Primeiro Cálculo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TextBox 6"/>
          <p:cNvSpPr/>
          <p:nvPr/>
        </p:nvSpPr>
        <p:spPr>
          <a:xfrm>
            <a:off x="11094480" y="6510600"/>
            <a:ext cx="639720" cy="28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algn="r"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100" spc="-1" strike="noStrike">
                <a:solidFill>
                  <a:srgbClr val="ffffff"/>
                </a:solidFill>
                <a:latin typeface="Calibri"/>
              </a:rPr>
              <a:t>15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5" name="Rectangle 7"/>
          <p:cNvSpPr/>
          <p:nvPr/>
        </p:nvSpPr>
        <p:spPr>
          <a:xfrm>
            <a:off x="777240" y="1664280"/>
            <a:ext cx="118440" cy="11844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1143000" y="157284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Todo cálculo PySCF segue três passos:  Mole → método → kernel()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7" name="Rectangle 9"/>
          <p:cNvSpPr/>
          <p:nvPr/>
        </p:nvSpPr>
        <p:spPr>
          <a:xfrm>
            <a:off x="777240" y="2212920"/>
            <a:ext cx="118440" cy="1184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28" name="TextBox 10"/>
          <p:cNvSpPr/>
          <p:nvPr/>
        </p:nvSpPr>
        <p:spPr>
          <a:xfrm>
            <a:off x="1143000" y="212148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No Mole:  atom (geometria), charge, e spin = elétrons DESEMPARELHADOS (2S)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Rectangle 11"/>
          <p:cNvSpPr/>
          <p:nvPr/>
        </p:nvSpPr>
        <p:spPr>
          <a:xfrm>
            <a:off x="777240" y="2761560"/>
            <a:ext cx="118440" cy="1184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1143000" y="267012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A base expande os orbitais; maior = melhor e mais caro. STO-3G é rascunho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1" name="Rectangle 13"/>
          <p:cNvSpPr/>
          <p:nvPr/>
        </p:nvSpPr>
        <p:spPr>
          <a:xfrm>
            <a:off x="777240" y="3310200"/>
            <a:ext cx="118440" cy="118440"/>
          </a:xfrm>
          <a:prstGeom prst="rect">
            <a:avLst/>
          </a:prstGeom>
          <a:solidFill>
            <a:srgbClr val="146e3c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2" name="TextBox 14"/>
          <p:cNvSpPr/>
          <p:nvPr/>
        </p:nvSpPr>
        <p:spPr>
          <a:xfrm>
            <a:off x="1143000" y="321876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Princípio variacional: energia mais baixa = mais próxima da verdade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3" name="Rectangle 15"/>
          <p:cNvSpPr/>
          <p:nvPr/>
        </p:nvSpPr>
        <p:spPr>
          <a:xfrm>
            <a:off x="777240" y="3858840"/>
            <a:ext cx="118440" cy="1184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4" name="TextBox 16"/>
          <p:cNvSpPr/>
          <p:nvPr/>
        </p:nvSpPr>
        <p:spPr>
          <a:xfrm>
            <a:off x="1143000" y="376740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RHF (camada fechada) · ROHF e UHF (camada aberta)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5" name="Rectangle 17"/>
          <p:cNvSpPr/>
          <p:nvPr/>
        </p:nvSpPr>
        <p:spPr>
          <a:xfrm>
            <a:off x="777240" y="4407480"/>
            <a:ext cx="118440" cy="118440"/>
          </a:xfrm>
          <a:prstGeom prst="rect">
            <a:avLst/>
          </a:prstGeom>
          <a:solidFill>
            <a:srgbClr val="961e1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1143000" y="431604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Sempre verifique mf.converged — SCF não convergido não tem valor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7" name="Rectangle 19"/>
          <p:cNvSpPr/>
          <p:nvPr/>
        </p:nvSpPr>
        <p:spPr>
          <a:xfrm>
            <a:off x="777240" y="4956120"/>
            <a:ext cx="118440" cy="1184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38" name="TextBox 20"/>
          <p:cNvSpPr/>
          <p:nvPr/>
        </p:nvSpPr>
        <p:spPr>
          <a:xfrm>
            <a:off x="1143000" y="486468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mo_energy e mo_occ dão HOMO, LUMO e o gap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9" name="Rectangle 21"/>
          <p:cNvSpPr/>
          <p:nvPr/>
        </p:nvSpPr>
        <p:spPr>
          <a:xfrm>
            <a:off x="777240" y="5504760"/>
            <a:ext cx="118440" cy="118440"/>
          </a:xfrm>
          <a:prstGeom prst="rect">
            <a:avLst/>
          </a:prstGeom>
          <a:solidFill>
            <a:srgbClr val="e8710a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0" name="TextBox 22"/>
          <p:cNvSpPr/>
          <p:nvPr/>
        </p:nvSpPr>
        <p:spPr>
          <a:xfrm>
            <a:off x="1143000" y="5413320"/>
            <a:ext cx="10240920" cy="36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</a:pPr>
            <a:r>
              <a:rPr b="0" lang="en-US" sz="1600" spc="-1" strike="noStrike">
                <a:solidFill>
                  <a:srgbClr val="333333"/>
                </a:solidFill>
                <a:latin typeface="Calibri"/>
              </a:rPr>
              <a:t>Projeto Âncora: átomo de Si calculado, −285,466211 Ha (STO-3G)</a:t>
            </a:r>
            <a:endParaRPr b="0" lang="pt-B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Rectangle 1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24878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2" name="TextBox 2"/>
          <p:cNvSpPr/>
          <p:nvPr/>
        </p:nvSpPr>
        <p:spPr>
          <a:xfrm>
            <a:off x="914400" y="1965960"/>
            <a:ext cx="1005804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1500" spc="-1" strike="noStrike">
                <a:solidFill>
                  <a:srgbClr val="bfd8ee"/>
                </a:solidFill>
                <a:latin typeface="Calibri"/>
              </a:rPr>
              <a:t>PRÓXIMA AULA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3" name="TextBox 3"/>
          <p:cNvSpPr/>
          <p:nvPr/>
        </p:nvSpPr>
        <p:spPr>
          <a:xfrm>
            <a:off x="914400" y="2514600"/>
            <a:ext cx="10515240" cy="755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1" lang="en-US" sz="3800" spc="-1" strike="noStrike">
                <a:solidFill>
                  <a:srgbClr val="ffffff"/>
                </a:solidFill>
                <a:latin typeface="Calibri"/>
              </a:rPr>
              <a:t>Capítulo 3 — Do Átomo ao Nanocristal</a:t>
            </a: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4" name="TextBox 4"/>
          <p:cNvSpPr/>
          <p:nvPr/>
        </p:nvSpPr>
        <p:spPr>
          <a:xfrm>
            <a:off x="914400" y="3703320"/>
            <a:ext cx="10332360" cy="1724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900" spc="-1" strike="noStrike">
                <a:solidFill>
                  <a:srgbClr val="d8e8f4"/>
                </a:solidFill>
                <a:latin typeface="Calibri"/>
              </a:rPr>
              <a:t>Confinamento quântico e a equação de Brus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900" spc="-1" strike="noStrike">
                <a:solidFill>
                  <a:srgbClr val="d8e8f4"/>
                </a:solidFill>
                <a:latin typeface="Calibri"/>
              </a:rPr>
              <a:t>Como recortar uma esfera da rede do silício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900" spc="-1" strike="noStrike">
                <a:solidFill>
                  <a:srgbClr val="d8e8f4"/>
                </a:solidFill>
                <a:latin typeface="Calibri"/>
              </a:rPr>
              <a:t>Passivação com hidrogênio e inserção do doador de fósforo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15000"/>
              </a:lnSpc>
              <a:spcAft>
                <a:spcPts val="799"/>
              </a:spcAft>
            </a:pPr>
            <a:r>
              <a:rPr b="0" lang="en-US" sz="1900" spc="-1" strike="noStrike">
                <a:solidFill>
                  <a:srgbClr val="d8e8f4"/>
                </a:solidFill>
                <a:latin typeface="Calibri"/>
              </a:rPr>
              <a:t>→ </a:t>
            </a:r>
            <a:r>
              <a:rPr b="0" lang="en-US" sz="1900" spc="-1" strike="noStrike">
                <a:solidFill>
                  <a:srgbClr val="d8e8f4"/>
                </a:solidFill>
                <a:latin typeface="Calibri"/>
              </a:rPr>
              <a:t>o nanocristal Si₇₁P₁H₆₄ que hospedará nosso qubit</a:t>
            </a:r>
            <a:endParaRPr b="0" lang="pt-BR" sz="1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5" name="Rectangle 5"/>
          <p:cNvSpPr/>
          <p:nvPr/>
        </p:nvSpPr>
        <p:spPr>
          <a:xfrm>
            <a:off x="914400" y="3566160"/>
            <a:ext cx="2011320" cy="4536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346" name="TextBox 6"/>
          <p:cNvSpPr/>
          <p:nvPr/>
        </p:nvSpPr>
        <p:spPr>
          <a:xfrm>
            <a:off x="914400" y="5806440"/>
            <a:ext cx="10058040" cy="33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45000" bIns="45000" anchor="t">
            <a:spAutoFit/>
          </a:bodyPr>
          <a:p>
            <a:pPr defTabSz="457200">
              <a:lnSpc>
                <a:spcPct val="115000"/>
              </a:lnSpc>
              <a:spcAft>
                <a:spcPts val="1001"/>
              </a:spcAft>
            </a:pPr>
            <a:r>
              <a:rPr b="0" lang="en-US" sz="1400" spc="-1" strike="noStrike">
                <a:solidFill>
                  <a:srgbClr val="a8c8e4"/>
                </a:solidFill>
                <a:latin typeface="Consolas"/>
              </a:rPr>
              <a:t>Notebook desta aula:  notebooks/Capitulo_02_Primeiro_Calculo_PySCF.ipynb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pt-BR</dc:language>
  <cp:lastModifiedBy/>
  <dcterms:modified xsi:type="dcterms:W3CDTF">2026-07-28T19:47:53Z</dcterms:modified>
  <cp:revision>5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